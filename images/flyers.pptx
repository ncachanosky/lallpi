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144000" type="letter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288" userDrawn="1">
          <p15:clr>
            <a:srgbClr val="A4A3A4"/>
          </p15:clr>
        </p15:guide>
        <p15:guide id="4" pos="4032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0" y="102"/>
      </p:cViewPr>
      <p:guideLst>
        <p:guide orient="horz" pos="2880"/>
        <p:guide pos="2160"/>
        <p:guide pos="288"/>
        <p:guide pos="4032"/>
        <p:guide orient="horz"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>
                <a:solidFill>
                  <a:schemeClr val="tx2"/>
                </a:solidFill>
              </a:rPr>
              <a:t>Populism in Latin America, 2000-2019</a:t>
            </a:r>
          </a:p>
        </c:rich>
      </c:tx>
      <c:layout>
        <c:manualLayout>
          <c:xMode val="edge"/>
          <c:yMode val="edge"/>
          <c:x val="8.2263288623609983E-3"/>
          <c:y val="2.50000000000000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3360263705542721E-2"/>
          <c:y val="0.14530216535433071"/>
          <c:w val="0.91313545883563141"/>
          <c:h val="0.716064085739282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14.45</c:v>
                </c:pt>
                <c:pt idx="1">
                  <c:v>14.450000000000001</c:v>
                </c:pt>
                <c:pt idx="2">
                  <c:v>14.8</c:v>
                </c:pt>
                <c:pt idx="3">
                  <c:v>17.450000000000003</c:v>
                </c:pt>
                <c:pt idx="4">
                  <c:v>17.600000000000001</c:v>
                </c:pt>
                <c:pt idx="5">
                  <c:v>15.799999999999999</c:v>
                </c:pt>
                <c:pt idx="6">
                  <c:v>18.399999999999999</c:v>
                </c:pt>
                <c:pt idx="7">
                  <c:v>20.399999999999999</c:v>
                </c:pt>
                <c:pt idx="8">
                  <c:v>22.200000000000003</c:v>
                </c:pt>
                <c:pt idx="9">
                  <c:v>24.15</c:v>
                </c:pt>
                <c:pt idx="10">
                  <c:v>24.4</c:v>
                </c:pt>
                <c:pt idx="11">
                  <c:v>23.450000000000003</c:v>
                </c:pt>
                <c:pt idx="12">
                  <c:v>23.3</c:v>
                </c:pt>
                <c:pt idx="13">
                  <c:v>23.45</c:v>
                </c:pt>
                <c:pt idx="14">
                  <c:v>23.9</c:v>
                </c:pt>
                <c:pt idx="15">
                  <c:v>22.55</c:v>
                </c:pt>
                <c:pt idx="16">
                  <c:v>19.600000000000001</c:v>
                </c:pt>
                <c:pt idx="17">
                  <c:v>17.399999999999999</c:v>
                </c:pt>
                <c:pt idx="18">
                  <c:v>17.350000000000001</c:v>
                </c:pt>
                <c:pt idx="19">
                  <c:v>18.899999999999999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FD-430B-A124-DD4D88BC89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PEP</c:v>
                </c:pt>
              </c:strCache>
            </c:strRef>
          </c:tx>
          <c:spPr>
            <a:ln w="2857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11.2</c:v>
                </c:pt>
                <c:pt idx="1">
                  <c:v>11.3</c:v>
                </c:pt>
                <c:pt idx="2">
                  <c:v>11.6</c:v>
                </c:pt>
                <c:pt idx="3">
                  <c:v>13.8</c:v>
                </c:pt>
                <c:pt idx="4">
                  <c:v>14.4</c:v>
                </c:pt>
                <c:pt idx="5">
                  <c:v>14.2</c:v>
                </c:pt>
                <c:pt idx="6">
                  <c:v>14.8</c:v>
                </c:pt>
                <c:pt idx="7">
                  <c:v>16.100000000000001</c:v>
                </c:pt>
                <c:pt idx="8">
                  <c:v>17.8</c:v>
                </c:pt>
                <c:pt idx="9">
                  <c:v>19.2</c:v>
                </c:pt>
                <c:pt idx="10">
                  <c:v>19.399999999999999</c:v>
                </c:pt>
                <c:pt idx="11">
                  <c:v>18.600000000000001</c:v>
                </c:pt>
                <c:pt idx="12">
                  <c:v>19</c:v>
                </c:pt>
                <c:pt idx="13">
                  <c:v>18.899999999999999</c:v>
                </c:pt>
                <c:pt idx="14">
                  <c:v>19.600000000000001</c:v>
                </c:pt>
                <c:pt idx="15">
                  <c:v>18.5</c:v>
                </c:pt>
                <c:pt idx="16">
                  <c:v>16.2</c:v>
                </c:pt>
                <c:pt idx="17">
                  <c:v>14.9</c:v>
                </c:pt>
                <c:pt idx="18">
                  <c:v>14.4</c:v>
                </c:pt>
                <c:pt idx="1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FD-430B-A124-DD4D88BC89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17.7</c:v>
                </c:pt>
                <c:pt idx="1">
                  <c:v>17.600000000000001</c:v>
                </c:pt>
                <c:pt idx="2">
                  <c:v>18</c:v>
                </c:pt>
                <c:pt idx="3">
                  <c:v>21.1</c:v>
                </c:pt>
                <c:pt idx="4">
                  <c:v>20.8</c:v>
                </c:pt>
                <c:pt idx="5">
                  <c:v>17.399999999999999</c:v>
                </c:pt>
                <c:pt idx="6">
                  <c:v>22</c:v>
                </c:pt>
                <c:pt idx="7">
                  <c:v>24.7</c:v>
                </c:pt>
                <c:pt idx="8">
                  <c:v>26.6</c:v>
                </c:pt>
                <c:pt idx="9">
                  <c:v>29.1</c:v>
                </c:pt>
                <c:pt idx="10">
                  <c:v>29.4</c:v>
                </c:pt>
                <c:pt idx="11">
                  <c:v>28.3</c:v>
                </c:pt>
                <c:pt idx="12">
                  <c:v>27.6</c:v>
                </c:pt>
                <c:pt idx="13">
                  <c:v>28</c:v>
                </c:pt>
                <c:pt idx="14">
                  <c:v>28.2</c:v>
                </c:pt>
                <c:pt idx="15">
                  <c:v>26.6</c:v>
                </c:pt>
                <c:pt idx="16">
                  <c:v>23</c:v>
                </c:pt>
                <c:pt idx="17">
                  <c:v>19.899999999999999</c:v>
                </c:pt>
                <c:pt idx="18">
                  <c:v>20.3</c:v>
                </c:pt>
                <c:pt idx="19">
                  <c:v>21.8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FD-430B-A124-DD4D88BC8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98770544"/>
        <c:axId val="1098771024"/>
      </c:lineChart>
      <c:catAx>
        <c:axId val="1098770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8771024"/>
        <c:crosses val="autoZero"/>
        <c:auto val="1"/>
        <c:lblAlgn val="ctr"/>
        <c:lblOffset val="100"/>
        <c:tickLblSkip val="3"/>
        <c:tickMarkSkip val="4"/>
        <c:noMultiLvlLbl val="0"/>
      </c:catAx>
      <c:valAx>
        <c:axId val="1098771024"/>
        <c:scaling>
          <c:orientation val="minMax"/>
          <c:max val="3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877054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67523465159745799"/>
          <c:y val="2.5087598425196825E-2"/>
          <c:w val="0.32474431737403547"/>
          <c:h val="8.32360017497812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115EE-3E7C-4470-9756-5AA46F1AD42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03638" y="857250"/>
            <a:ext cx="17367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92896-DB68-42F8-8A68-DF937A47A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5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1pPr>
    <a:lvl2pPr marL="25717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2pPr>
    <a:lvl3pPr marL="51435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3pPr>
    <a:lvl4pPr marL="77152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4pPr>
    <a:lvl5pPr marL="102870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5pPr>
    <a:lvl6pPr marL="128587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6pPr>
    <a:lvl7pPr marL="154305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7pPr>
    <a:lvl8pPr marL="1800225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8pPr>
    <a:lvl9pPr marL="2057400" algn="l" defTabSz="514350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92896-DB68-42F8-8A68-DF937A47AD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07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7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95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6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86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5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8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4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91E09-4C22-43A0-8C27-AA6A02F2593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21C16-144C-4972-8E1D-38FF6FEA6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7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E2B52-935B-4640-73E1-BD02E136D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5C41DD-7E8F-4115-8127-7C9C74B3480D}"/>
              </a:ext>
            </a:extLst>
          </p:cNvPr>
          <p:cNvCxnSpPr>
            <a:cxnSpLocks/>
          </p:cNvCxnSpPr>
          <p:nvPr/>
        </p:nvCxnSpPr>
        <p:spPr>
          <a:xfrm>
            <a:off x="0" y="34504"/>
            <a:ext cx="6858000" cy="0"/>
          </a:xfrm>
          <a:prstGeom prst="line">
            <a:avLst/>
          </a:prstGeom>
          <a:ln w="76200">
            <a:solidFill>
              <a:srgbClr val="FF82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417896-E413-2105-44BD-5ED668DD2A2D}"/>
              </a:ext>
            </a:extLst>
          </p:cNvPr>
          <p:cNvSpPr txBox="1"/>
          <p:nvPr/>
        </p:nvSpPr>
        <p:spPr>
          <a:xfrm>
            <a:off x="1397479" y="591234"/>
            <a:ext cx="500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LALLPI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sz="1200" dirty="0">
                <a:solidFill>
                  <a:schemeClr val="tx2"/>
                </a:solidFill>
              </a:rPr>
              <a:t>Latin American Left-Leaning Populism Index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7424EF-D93B-61CC-1433-ABF48A2E85A0}"/>
              </a:ext>
            </a:extLst>
          </p:cNvPr>
          <p:cNvCxnSpPr>
            <a:cxnSpLocks/>
          </p:cNvCxnSpPr>
          <p:nvPr/>
        </p:nvCxnSpPr>
        <p:spPr>
          <a:xfrm>
            <a:off x="457200" y="1544129"/>
            <a:ext cx="59436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C6922E-1BBC-DADA-584F-140D969D8A0B}"/>
              </a:ext>
            </a:extLst>
          </p:cNvPr>
          <p:cNvSpPr txBox="1"/>
          <p:nvPr/>
        </p:nvSpPr>
        <p:spPr>
          <a:xfrm>
            <a:off x="457200" y="1639019"/>
            <a:ext cx="5943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Does populist rhetoric become populist policy?</a:t>
            </a:r>
          </a:p>
          <a:p>
            <a:endParaRPr lang="en-US" sz="1400" dirty="0"/>
          </a:p>
          <a:p>
            <a:r>
              <a:rPr lang="en-US" sz="1200" dirty="0"/>
              <a:t>LALLPI doesn’t just track what leaders say – it tracks what they do.</a:t>
            </a:r>
          </a:p>
          <a:p>
            <a:r>
              <a:rPr lang="en-US" sz="1200" dirty="0"/>
              <a:t>By combining populist rhetoric with actual economic and institutional policy, the index reveals when talk becomes action, and when it doesn’t.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A1017121-0A98-87F4-1858-E57D42482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47672"/>
              </p:ext>
            </p:extLst>
          </p:nvPr>
        </p:nvGraphicFramePr>
        <p:xfrm>
          <a:off x="457199" y="3048000"/>
          <a:ext cx="59435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064063D-2C3A-16DF-382E-2FF0BF59C67E}"/>
              </a:ext>
            </a:extLst>
          </p:cNvPr>
          <p:cNvSpPr txBox="1"/>
          <p:nvPr/>
        </p:nvSpPr>
        <p:spPr>
          <a:xfrm>
            <a:off x="457200" y="5971821"/>
            <a:ext cx="228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Most populist regimes, 2018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270D72-2613-0082-FF7F-6B0087E26261}"/>
              </a:ext>
            </a:extLst>
          </p:cNvPr>
          <p:cNvSpPr txBox="1"/>
          <p:nvPr/>
        </p:nvSpPr>
        <p:spPr>
          <a:xfrm>
            <a:off x="3429000" y="5987209"/>
            <a:ext cx="29717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accent3">
                    <a:lumMod val="75000"/>
                  </a:schemeClr>
                </a:solidFill>
              </a:rPr>
              <a:t>PEP = Economic populism • PIP = Institutional populism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2FAE843-CA0C-BB6D-4C27-5AA0C31CE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560062"/>
              </p:ext>
            </p:extLst>
          </p:nvPr>
        </p:nvGraphicFramePr>
        <p:xfrm>
          <a:off x="457198" y="6300076"/>
          <a:ext cx="5943600" cy="1254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4134106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605839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98775372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68575594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7585079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393526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  <a:p>
                      <a:pPr algn="ctr"/>
                      <a:r>
                        <a:rPr lang="en-US" sz="1000" dirty="0"/>
                        <a:t>Venezuela</a:t>
                      </a:r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1200" b="1" dirty="0"/>
                        <a:t>79.8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POP</a:t>
                      </a:r>
                      <a:endParaRPr lang="en-US" sz="9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  <a:p>
                      <a:pPr algn="ctr"/>
                      <a:r>
                        <a:rPr lang="en-US" sz="1000" dirty="0"/>
                        <a:t>Bolivia</a:t>
                      </a:r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1200" b="1" dirty="0"/>
                        <a:t>45.5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POP</a:t>
                      </a:r>
                      <a:endParaRPr lang="en-US" sz="1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  <a:p>
                      <a:pPr algn="ctr"/>
                      <a:r>
                        <a:rPr lang="en-US" sz="1000" dirty="0"/>
                        <a:t>Nicaragua</a:t>
                      </a:r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1200" b="1" dirty="0"/>
                        <a:t>40.3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POP</a:t>
                      </a:r>
                      <a:endParaRPr lang="en-US" sz="1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  <a:p>
                      <a:pPr algn="ctr"/>
                      <a:r>
                        <a:rPr lang="en-US" sz="1000" dirty="0"/>
                        <a:t>Ecuador</a:t>
                      </a:r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1200" b="1" dirty="0"/>
                        <a:t>38.4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POP</a:t>
                      </a:r>
                      <a:endParaRPr lang="en-US" sz="12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</a:p>
                    <a:p>
                      <a:pPr algn="ctr"/>
                      <a:r>
                        <a:rPr lang="en-US" sz="1000" dirty="0"/>
                        <a:t>El Salvador</a:t>
                      </a:r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1200" b="1" dirty="0"/>
                        <a:t>27.5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POP</a:t>
                      </a:r>
                      <a:endParaRPr lang="en-US" sz="1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  <a:p>
                      <a:pPr algn="ctr"/>
                      <a:r>
                        <a:rPr lang="en-US" sz="1000" dirty="0"/>
                        <a:t>Colombia</a:t>
                      </a:r>
                    </a:p>
                    <a:p>
                      <a:pPr algn="ctr"/>
                      <a:endParaRPr lang="en-US" sz="1000" dirty="0"/>
                    </a:p>
                    <a:p>
                      <a:pPr algn="ctr"/>
                      <a:r>
                        <a:rPr lang="en-US" sz="1200" b="1" dirty="0"/>
                        <a:t>14.5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POP</a:t>
                      </a:r>
                      <a:endParaRPr lang="en-US" sz="1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2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 68.6</a:t>
                      </a:r>
                    </a:p>
                    <a:p>
                      <a:pPr algn="ctr"/>
                      <a:r>
                        <a:rPr lang="en-US" sz="800" dirty="0"/>
                        <a:t>PIP 91.1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 31.6</a:t>
                      </a:r>
                    </a:p>
                    <a:p>
                      <a:pPr algn="ctr"/>
                      <a:r>
                        <a:rPr lang="en-US" sz="800" dirty="0"/>
                        <a:t>PIP 59.3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 19.6</a:t>
                      </a:r>
                    </a:p>
                    <a:p>
                      <a:pPr algn="ctr"/>
                      <a:r>
                        <a:rPr lang="en-US" sz="800" dirty="0"/>
                        <a:t>PIP 61.3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 34.0</a:t>
                      </a:r>
                    </a:p>
                    <a:p>
                      <a:pPr algn="ctr"/>
                      <a:r>
                        <a:rPr lang="en-US" sz="800" dirty="0"/>
                        <a:t>PIP 42.7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 17.1</a:t>
                      </a:r>
                    </a:p>
                    <a:p>
                      <a:pPr algn="ctr"/>
                      <a:r>
                        <a:rPr lang="en-US" sz="800" dirty="0"/>
                        <a:t>PIP 37.9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PEP 14.1</a:t>
                      </a:r>
                    </a:p>
                    <a:p>
                      <a:pPr algn="ctr"/>
                      <a:r>
                        <a:rPr lang="en-US" sz="800" dirty="0"/>
                        <a:t>PIP 14.8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9897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0FECF4D-E76F-AA1B-90C1-CFB88B10AF8E}"/>
              </a:ext>
            </a:extLst>
          </p:cNvPr>
          <p:cNvSpPr txBox="1"/>
          <p:nvPr/>
        </p:nvSpPr>
        <p:spPr>
          <a:xfrm>
            <a:off x="457198" y="7634377"/>
            <a:ext cx="228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</a:rPr>
              <a:t>25 countries • 2000-2020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832FFB-BAC4-CDC1-FA89-C6E43774C256}"/>
              </a:ext>
            </a:extLst>
          </p:cNvPr>
          <p:cNvSpPr/>
          <p:nvPr/>
        </p:nvSpPr>
        <p:spPr>
          <a:xfrm>
            <a:off x="0" y="8046720"/>
            <a:ext cx="6858000" cy="109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C39C9FA-5736-EC80-BE24-B32D984D7E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8" y="8252460"/>
            <a:ext cx="685800" cy="6858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5C84302-C961-0777-277C-47037939789A}"/>
              </a:ext>
            </a:extLst>
          </p:cNvPr>
          <p:cNvSpPr txBox="1"/>
          <p:nvPr/>
        </p:nvSpPr>
        <p:spPr>
          <a:xfrm>
            <a:off x="1371600" y="8375364"/>
            <a:ext cx="2208362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b="1" dirty="0" err="1">
                <a:solidFill>
                  <a:schemeClr val="bg1"/>
                </a:solidFill>
              </a:rPr>
              <a:t>lallpi.netlify.app</a:t>
            </a:r>
            <a:endParaRPr lang="en-US" sz="8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bg1"/>
                </a:solidFill>
              </a:rPr>
              <a:t>N. Cachanosky | J. P. Bastos | A. Padilla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EA7C4F-54F6-B477-321C-E4D80E2BBAEB}"/>
              </a:ext>
            </a:extLst>
          </p:cNvPr>
          <p:cNvSpPr txBox="1"/>
          <p:nvPr/>
        </p:nvSpPr>
        <p:spPr>
          <a:xfrm>
            <a:off x="4114800" y="8364703"/>
            <a:ext cx="2208362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800" b="1" dirty="0">
                <a:solidFill>
                  <a:schemeClr val="bg1"/>
                </a:solidFill>
              </a:rPr>
              <a:t>Center for Free Enterprise</a:t>
            </a:r>
          </a:p>
          <a:p>
            <a:pPr algn="r">
              <a:lnSpc>
                <a:spcPct val="150000"/>
              </a:lnSpc>
            </a:pPr>
            <a:r>
              <a:rPr lang="en-US" sz="800" dirty="0">
                <a:solidFill>
                  <a:schemeClr val="bg1"/>
                </a:solidFill>
              </a:rPr>
              <a:t>The University of Texas at El Paso</a:t>
            </a:r>
          </a:p>
        </p:txBody>
      </p:sp>
    </p:spTree>
    <p:extLst>
      <p:ext uri="{BB962C8B-B14F-4D97-AF65-F5344CB8AC3E}">
        <p14:creationId xmlns:p14="http://schemas.microsoft.com/office/powerpoint/2010/main" val="3409485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EP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F8200"/>
      </a:accent1>
      <a:accent2>
        <a:srgbClr val="041E42"/>
      </a:accent2>
      <a:accent3>
        <a:srgbClr val="D9D9D6"/>
      </a:accent3>
      <a:accent4>
        <a:srgbClr val="1CA6DF"/>
      </a:accent4>
      <a:accent5>
        <a:srgbClr val="FFD600"/>
      </a:accent5>
      <a:accent6>
        <a:srgbClr val="4E4B48"/>
      </a:accent6>
      <a:hlink>
        <a:srgbClr val="F5F3EB"/>
      </a:hlink>
      <a:folHlink>
        <a:srgbClr val="B26B02"/>
      </a:folHlink>
    </a:clrScheme>
    <a:fontScheme name="UTEP - Sans Serif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154</Words>
  <Application>Microsoft Office PowerPoint</Application>
  <PresentationFormat>Letter Paper (8.5x11 in)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Cachanosky, Nicolas</dc:creator>
  <cp:lastModifiedBy>Cachanosky, Nicolas</cp:lastModifiedBy>
  <cp:revision>1</cp:revision>
  <dcterms:created xsi:type="dcterms:W3CDTF">2026-07-01T20:19:50Z</dcterms:created>
  <dcterms:modified xsi:type="dcterms:W3CDTF">2026-07-01T21:12:33Z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2026-07-01T21:12:01Z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9d86502e-ad38-4c34-8155-e92d03305a31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10, 3, 0, 1</vt:lpwstr>
  </property>
</Properties>
</file>